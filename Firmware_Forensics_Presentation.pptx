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847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2847"/>
                </a:solidFill>
                <a:latin typeface="Arial"/>
              </a:rPr>
              <a:t>Findings by Category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Findings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B284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High-Entropy
Regions</c:v>
                  </c:pt>
                  <c:pt idx="1">
                    <c:v>Flagged
Strings</c:v>
                  </c:pt>
                  <c:pt idx="2">
                    <c:v>Vulnerable
Components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6</c:v>
                </c:pt>
                <c:pt idx="2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0B284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8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847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1645920"/>
            <a:ext cx="5486400" cy="5486400"/>
          </a:xfrm>
          <a:prstGeom prst="ellipse">
            <a:avLst/>
          </a:prstGeom>
          <a:solidFill>
            <a:srgbClr val="123C69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3291840"/>
            <a:ext cx="3840480" cy="3840480"/>
          </a:xfrm>
          <a:prstGeom prst="ellipse">
            <a:avLst/>
          </a:prstGeom>
          <a:solidFill>
            <a:srgbClr val="0E7C7B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92B"/>
                </a:solidFill>
              </a:rPr>
              <a:t>PRAGYAN AI  ·  IIT GUWAHATI  ·  STUDENT RESEARCH SUBMISSION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GenAI-Powered IoT Vulnerability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Firmware Forensics Platform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D6E3"/>
                </a:solidFill>
              </a:rPr>
              <a:t>A reproducible static-analysis pipeline for firmware security assessment, with a narrow, clearly-bounded GenAI reporting layer.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5074920"/>
            <a:ext cx="2011680" cy="0"/>
          </a:xfrm>
          <a:prstGeom prst="line">
            <a:avLst/>
          </a:prstGeom>
          <a:noFill/>
          <a:ln w="38100">
            <a:solidFill>
              <a:srgbClr val="E87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257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Author: Richa   |   AI &amp; Computational Thinking Educator, KVS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623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</a:rPr>
              <a:t>Independent Research Project  ·  Python  ·  Streamlit  ·  Static Forensics + GenAI Narration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8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 is the least-examined layer of IoT security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EEF3F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792B"/>
                </a:solidFill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847"/>
                </a:solidFill>
              </a:rPr>
              <a:t>Network security gets all the attention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4552"/>
                </a:solidFill>
              </a:rPr>
              <a:t>Encrypted Wi-Fi, secured APIs, TLS everywhere -- but underneath, the firmware itself is rarely re-examined once a device ships.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EEF3F6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2148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792B"/>
                </a:solidFill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617720" y="288036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847"/>
                </a:solidFill>
              </a:rPr>
              <a:t>Firmware hides real risk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388620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4552"/>
                </a:solidFill>
              </a:rPr>
              <a:t>Hardcoded credentials, outdated open-source components, and unsecured boot chains live inside the binary -- invisible to any network capture.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92024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EEF3F6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2148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792B"/>
                </a:solidFill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412480" y="288036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847"/>
                </a:solidFill>
              </a:rPr>
              <a:t>Tooling is inaccessible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0" y="388620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4552"/>
                </a:solidFill>
              </a:rPr>
              <a:t>Serious firmware analysis usually needs proprietary tools or a hardware lab -- putting it out of reach for most student researchers.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E7C7B"/>
                </a:solidFill>
              </a:rPr>
              <a:t>Result: a device can pass every network security check and still ship a root password in cleartext.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&amp; 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8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project sets out to do -- and deliberately does not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E7F3F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</a:rPr>
              <a:t>✓  IN SCOPE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300" dirty="0">
                <a:solidFill>
                  <a:srgbClr val="1B1F23"/>
                </a:solidFill>
              </a:rPr>
              <a:t>Static analysis of a firmware binary already on disk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300" dirty="0">
                <a:solidFill>
                  <a:srgbClr val="1B1F23"/>
                </a:solidFill>
              </a:rPr>
              <a:t>Entropy mapping to locate compressed/encrypted regions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7490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300" dirty="0">
                <a:solidFill>
                  <a:srgbClr val="1B1F23"/>
                </a:solidFill>
              </a:rPr>
              <a:t>String-based detection of leaked secrets &amp; credentials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42976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300" dirty="0">
                <a:solidFill>
                  <a:srgbClr val="1B1F23"/>
                </a:solidFill>
              </a:rPr>
              <a:t>Known-component version -&gt; CVE-class cross-referencing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48463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300" dirty="0">
                <a:solidFill>
                  <a:srgbClr val="1B1F23"/>
                </a:solidFill>
              </a:rPr>
              <a:t>GenAI narration of findings already established by code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53949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300" dirty="0">
                <a:solidFill>
                  <a:srgbClr val="1B1F23"/>
                </a:solidFill>
              </a:rPr>
              <a:t>Fully offline-capable, reproducible, test-covered pipeline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96596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BEAE0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792B"/>
                </a:solidFill>
              </a:rPr>
              <a:t>✕  OUT OF SCOPE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26517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✗"/>
            </a:pPr>
            <a:r>
              <a:rPr lang="en-US" sz="1300" dirty="0">
                <a:solidFill>
                  <a:srgbClr val="1B1F23"/>
                </a:solidFill>
              </a:rPr>
              <a:t>Physical firmware acquisition / chip-dumping procedures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37960" y="32004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✗"/>
            </a:pPr>
            <a:r>
              <a:rPr lang="en-US" sz="1300" dirty="0">
                <a:solidFill>
                  <a:srgbClr val="1B1F23"/>
                </a:solidFill>
              </a:rPr>
              <a:t>Exploit generation or attacking live devices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37960" y="37490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✗"/>
            </a:pPr>
            <a:r>
              <a:rPr lang="en-US" sz="1300" dirty="0">
                <a:solidFill>
                  <a:srgbClr val="1B1F23"/>
                </a:solidFill>
              </a:rPr>
              <a:t>Scanning real vendor firmware without authorization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37960" y="42976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✗"/>
            </a:pPr>
            <a:r>
              <a:rPr lang="en-US" sz="1300" dirty="0">
                <a:solidFill>
                  <a:srgbClr val="1B1F23"/>
                </a:solidFill>
              </a:rPr>
              <a:t>Letting an LLM originate security findings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37960" y="48463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✗"/>
            </a:pPr>
            <a:r>
              <a:rPr lang="en-US" sz="1300" dirty="0">
                <a:solidFill>
                  <a:srgbClr val="1B1F23"/>
                </a:solidFill>
              </a:rPr>
              <a:t>Claiming comprehensive, live CVE-feed coverage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 VULNERABILITY LANDSCAPE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8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recurring categories, not a random list of CVEs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2139696" cy="3931920"/>
          </a:xfrm>
          <a:prstGeom prst="roundRect">
            <a:avLst>
              <a:gd name="adj" fmla="val 3419"/>
            </a:avLst>
          </a:prstGeom>
          <a:solidFill>
            <a:srgbClr val="123C69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2402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92B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3232" y="2788920"/>
            <a:ext cx="18105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Credential Exposure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13232" y="3657600"/>
            <a:ext cx="181051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6ECF1"/>
                </a:solidFill>
              </a:rPr>
              <a:t>Default/hardcoded logins left in production builds -- how Mirai spread with zero sophistication.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25496" y="2057400"/>
            <a:ext cx="2139696" cy="3931920"/>
          </a:xfrm>
          <a:prstGeom prst="roundRect">
            <a:avLst>
              <a:gd name="adj" fmla="val 3419"/>
            </a:avLst>
          </a:prstGeom>
          <a:solidFill>
            <a:srgbClr val="0E7C7B"/>
          </a:solidFill>
          <a:ln/>
        </p:spPr>
      </p:sp>
      <p:sp>
        <p:nvSpPr>
          <p:cNvPr id="9" name="Text 7"/>
          <p:cNvSpPr/>
          <p:nvPr/>
        </p:nvSpPr>
        <p:spPr>
          <a:xfrm>
            <a:off x="2990088" y="22402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92B"/>
                </a:solidFill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990088" y="2788920"/>
            <a:ext cx="18105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Legacy Component Reuse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990088" y="3657600"/>
            <a:ext cx="181051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6ECF1"/>
                </a:solidFill>
              </a:rPr>
              <a:t>Years-old OpenSSL/BusyBox builds surviving because nobody re-cuts the firmware for a library patch.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02352" y="2057400"/>
            <a:ext cx="2139696" cy="3931920"/>
          </a:xfrm>
          <a:prstGeom prst="roundRect">
            <a:avLst>
              <a:gd name="adj" fmla="val 3419"/>
            </a:avLst>
          </a:prstGeom>
          <a:solidFill>
            <a:srgbClr val="123C69"/>
          </a:solidFill>
          <a:ln/>
        </p:spPr>
      </p:sp>
      <p:sp>
        <p:nvSpPr>
          <p:cNvPr id="13" name="Text 11"/>
          <p:cNvSpPr/>
          <p:nvPr/>
        </p:nvSpPr>
        <p:spPr>
          <a:xfrm>
            <a:off x="5266944" y="22402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92B"/>
                </a:solidFill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266944" y="2788920"/>
            <a:ext cx="18105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Insecure Boot Chain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266944" y="3657600"/>
            <a:ext cx="181051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6ECF1"/>
                </a:solidFill>
              </a:rPr>
              <a:t>No signature verification between boot stages -- brief physical access can flash arbitrary firmware.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79208" y="2057400"/>
            <a:ext cx="2139696" cy="3931920"/>
          </a:xfrm>
          <a:prstGeom prst="roundRect">
            <a:avLst>
              <a:gd name="adj" fmla="val 3419"/>
            </a:avLst>
          </a:prstGeom>
          <a:solidFill>
            <a:srgbClr val="0E7C7B"/>
          </a:solidFill>
          <a:ln/>
        </p:spPr>
      </p:sp>
      <p:sp>
        <p:nvSpPr>
          <p:cNvPr id="17" name="Text 15"/>
          <p:cNvSpPr/>
          <p:nvPr/>
        </p:nvSpPr>
        <p:spPr>
          <a:xfrm>
            <a:off x="7543800" y="22402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92B"/>
                </a:solidFill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543800" y="2788920"/>
            <a:ext cx="18105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Debug Interface Exposure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543800" y="3657600"/>
            <a:ext cx="181051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6ECF1"/>
                </a:solidFill>
              </a:rPr>
              <a:t>Telnet daemons and debug shells disabled, not removed -- still present in the image.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656064" y="2057400"/>
            <a:ext cx="2139696" cy="3931920"/>
          </a:xfrm>
          <a:prstGeom prst="roundRect">
            <a:avLst>
              <a:gd name="adj" fmla="val 3419"/>
            </a:avLst>
          </a:prstGeom>
          <a:solidFill>
            <a:srgbClr val="123C69"/>
          </a:solidFill>
          <a:ln/>
        </p:spPr>
      </p:sp>
      <p:sp>
        <p:nvSpPr>
          <p:cNvPr id="21" name="Text 19"/>
          <p:cNvSpPr/>
          <p:nvPr/>
        </p:nvSpPr>
        <p:spPr>
          <a:xfrm>
            <a:off x="9820656" y="22402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92B"/>
                </a:solidFill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820656" y="2788920"/>
            <a:ext cx="18105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Insecure Update Mechanism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820656" y="3657600"/>
            <a:ext cx="181051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6ECF1"/>
                </a:solidFill>
              </a:rPr>
              <a:t>No authenticity check on update packages -- a missing control, not a single flaw.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8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four-stage deterministic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23C6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6974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1. Acquisition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DE6EE"/>
                </a:solidFill>
              </a:rPr>
              <a:t>Firmware binary loaded into memory as raw bytes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72968" y="3429000"/>
            <a:ext cx="301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▶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0" y="24688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23C69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26974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2. Static Detection Engine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0" y="352044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DE6EE"/>
                </a:solidFill>
              </a:rPr>
              <a:t>Entropy scan + string extraction + secret flagging run independently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9048" y="3429000"/>
            <a:ext cx="301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▶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0" y="24688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23C69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6974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3. Cross-Reference &amp; Risk Mapping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352044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DE6EE"/>
                </a:solidFill>
              </a:rPr>
              <a:t>Component/version matches checked against curated CVE-class table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025128" y="3429000"/>
            <a:ext cx="301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▶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326880" y="24688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8792B"/>
          </a:solidFill>
          <a:ln/>
        </p:spPr>
      </p:sp>
      <p:sp>
        <p:nvSpPr>
          <p:cNvPr id="17" name="Text 15"/>
          <p:cNvSpPr/>
          <p:nvPr/>
        </p:nvSpPr>
        <p:spPr>
          <a:xfrm>
            <a:off x="9509760" y="26974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4. Reporting Layer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509760" y="352044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2000"/>
                </a:solidFill>
              </a:rPr>
              <a:t>Findings narrated in plain language -- via LLM (bounded) or offline template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52120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0E7C7B"/>
                </a:solidFill>
              </a:rPr>
              <a:t>Design principle: detection is deterministic and re-runnable. GenAI is added only at Stage 4, and only to narrate -- never to originate a finding.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MODULES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8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analyzer actually computes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298448"/>
          </a:xfrm>
          <a:prstGeom prst="roundRect">
            <a:avLst>
              <a:gd name="adj" fmla="val 4930"/>
            </a:avLst>
          </a:prstGeom>
          <a:solidFill>
            <a:srgbClr val="F6F8FA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85416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8541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74520" y="2112264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847"/>
                </a:solidFill>
              </a:rPr>
              <a:t>Entropy Analysis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46320" y="2112264"/>
            <a:ext cx="6537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552"/>
                </a:solidFill>
              </a:rPr>
              <a:t>Shannon entropy per 512-byte window across the image. Consecutive high-entropy windows merge into flagged byte ranges -- likely compressed or encrypted regions.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447288"/>
            <a:ext cx="11064240" cy="1298448"/>
          </a:xfrm>
          <a:prstGeom prst="roundRect">
            <a:avLst>
              <a:gd name="adj" fmla="val 4930"/>
            </a:avLst>
          </a:prstGeom>
          <a:solidFill>
            <a:srgbClr val="F6F8FA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666744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666744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874520" y="3593592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847"/>
                </a:solidFill>
              </a:rPr>
              <a:t>String &amp; Secret Extraction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3593592"/>
            <a:ext cx="6537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552"/>
                </a:solidFill>
              </a:rPr>
              <a:t>Printable ASCII runs extracted like `strings -a`. Each is checked against auditable regex for hardcoded passwords, API keys, PEM key headers, default logins.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928616"/>
            <a:ext cx="11064240" cy="1298448"/>
          </a:xfrm>
          <a:prstGeom prst="roundRect">
            <a:avLst>
              <a:gd name="adj" fmla="val 4930"/>
            </a:avLst>
          </a:prstGeom>
          <a:solidFill>
            <a:srgbClr val="F6F8FA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5148072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1480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74520" y="507492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847"/>
                </a:solidFill>
              </a:rPr>
              <a:t>Vulnerability Signatures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46320" y="5074920"/>
            <a:ext cx="6537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552"/>
                </a:solidFill>
              </a:rPr>
              <a:t>Component/version banners (BusyBox, Dropbear, OpenSSL, U-Boot) matched and cross-referenced to illustrative CVE classes with concrete remediation.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GENAI'S ROLE -- AND ITS BOUNDARY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8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Narration only. Never the source of a finding.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123C6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240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92B"/>
                </a:solidFill>
              </a:rPr>
              <a:t>WHAT GenAI DOES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Takes the structured JSON already produced by the deterministic engine and writes it up as clear, readable prose for a report or viva panel.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411480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6E3"/>
                </a:solidFill>
              </a:rPr>
              <a:t>Runs in an offline, template-based fallback mode with zero API dependency -- the platform is fully demonstrable without internet access.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201168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EEF3F6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2240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</a:rPr>
              <a:t>WHAT GenAI NEVER DOES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27432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✗"/>
            </a:pPr>
            <a:r>
              <a:rPr lang="en-US" sz="1250" dirty="0">
                <a:solidFill>
                  <a:srgbClr val="1B1F23"/>
                </a:solidFill>
              </a:rPr>
              <a:t>Invent a CVE, version, or byte offset not already in the data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83680" y="3456432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✗"/>
            </a:pPr>
            <a:r>
              <a:rPr lang="en-US" sz="1250" dirty="0">
                <a:solidFill>
                  <a:srgbClr val="1B1F23"/>
                </a:solidFill>
              </a:rPr>
              <a:t>Decide whether something is a vulnerability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0" y="4169664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✗"/>
            </a:pPr>
            <a:r>
              <a:rPr lang="en-US" sz="1250" dirty="0">
                <a:solidFill>
                  <a:srgbClr val="1B1F23"/>
                </a:solidFill>
              </a:rPr>
              <a:t>Replace the entropy/string/signature engines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83680" y="4882896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✗"/>
            </a:pPr>
            <a:r>
              <a:rPr lang="en-US" sz="1250" dirty="0">
                <a:solidFill>
                  <a:srgbClr val="1B1F23"/>
                </a:solidFill>
              </a:rPr>
              <a:t>Enter the evidence chain as an unverifiable source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-- ACTUAL PIPELINE OUTPUT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8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2,561-byte synthetic demo firmware, real run, not illustrative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965960"/>
          <a:ext cx="53949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263640" y="196596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847"/>
                </a:solidFill>
              </a:rPr>
              <a:t>Vulnerable Components Detected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377440"/>
          <a:ext cx="5349240" cy="1828800"/>
        </p:xfrm>
        <a:graphic>
          <a:graphicData uri="http://schemas.openxmlformats.org/drawingml/2006/table">
            <a:tbl>
              <a:tblPr/>
              <a:tblGrid>
                <a:gridCol w="1554480"/>
                <a:gridCol w="196596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CVE Class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Issue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</a:rPr>
                        <a:t>U-Boot 2019.01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</a:rPr>
                        <a:t>CVE-2021-27097 class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</a:rPr>
                        <a:t>Unauthenticated bootloader console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</a:rPr>
                        <a:t>BusyBox 1.28.4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</a:rPr>
                        <a:t>CVE-2019-5747 class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</a:rPr>
                        <a:t>Buffer under-read in udhcpc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</a:rPr>
                        <a:t>OpenSSL 1.0.1f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</a:rPr>
                        <a:t>CVE-2014-0160 (Heartbleed class)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</a:rPr>
                        <a:t>Legacy TLS library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263640" y="4434840"/>
            <a:ext cx="5349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i="1" dirty="0">
                <a:solidFill>
                  <a:srgbClr val="0E7C7B"/>
                </a:solidFill>
              </a:rPr>
              <a:t>Entropy scan located the planted random block at byte offset 512-2048 with zero false positives elsewhere.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VALIDATION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8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Automated, not hand-verified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291840" cy="3931920"/>
          </a:xfrm>
          <a:prstGeom prst="roundRect">
            <a:avLst>
              <a:gd name="adj" fmla="val 2222"/>
            </a:avLst>
          </a:prstGeom>
          <a:solidFill>
            <a:srgbClr val="0E7C7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8346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12 / 12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pytest cases passing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5120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8ECEB"/>
                </a:solidFill>
              </a:rPr>
              <a:t>pytest tests/ -v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0" y="2011680"/>
            <a:ext cx="7498080" cy="1143000"/>
          </a:xfrm>
          <a:prstGeom prst="roundRect">
            <a:avLst>
              <a:gd name="adj" fmla="val 5600"/>
            </a:avLst>
          </a:prstGeom>
          <a:solidFill>
            <a:srgbClr val="F6F8FA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2139696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847"/>
                </a:solidFill>
              </a:rPr>
              <a:t>Entropy correctness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389120" y="2523744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552"/>
                </a:solidFill>
              </a:rPr>
              <a:t>Uniform bytes -&gt; 0.0 entropy · Random bytes -&gt; ~8 bits/byte · Region merging verified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0" y="3337560"/>
            <a:ext cx="7498080" cy="1143000"/>
          </a:xfrm>
          <a:prstGeom prst="roundRect">
            <a:avLst>
              <a:gd name="adj" fmla="val 5600"/>
            </a:avLst>
          </a:prstGeom>
          <a:solidFill>
            <a:srgbClr val="F6F8FA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3465576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847"/>
                </a:solidFill>
              </a:rPr>
              <a:t>String &amp; secret detection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389120" y="3849624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552"/>
                </a:solidFill>
              </a:rPr>
              <a:t>True positives on planted secrets · Confirmed zero false positives on clean config strings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0" y="4663440"/>
            <a:ext cx="7498080" cy="1143000"/>
          </a:xfrm>
          <a:prstGeom prst="roundRect">
            <a:avLst>
              <a:gd name="adj" fmla="val 5600"/>
            </a:avLst>
          </a:prstGeom>
          <a:solidFill>
            <a:srgbClr val="F6F8FA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4791456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847"/>
                </a:solidFill>
              </a:rPr>
              <a:t>Vulnerability cross-reference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389120" y="5175504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552"/>
                </a:solidFill>
              </a:rPr>
              <a:t>Known components correctly matched · Unknown components correctly ignored, not guessed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-- STATED PLAINLY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8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Honesty about scope is part of the 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12140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8792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21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80160" y="1965960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3"/>
                </a:solidFill>
              </a:rPr>
              <a:t>Reference table covers 4 components -- a production tool needs a live NVD feed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07208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96265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8792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9626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2807208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3"/>
                </a:solidFill>
              </a:rPr>
              <a:t>Version comparison is string-based, not full semantic version parsing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648456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80390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8792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8039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3648456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3"/>
                </a:solidFill>
              </a:rPr>
              <a:t>Regex-based secret detection misses obfuscated or non-standard formats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489704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464515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8792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6451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80160" y="4489704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3"/>
                </a:solidFill>
              </a:rPr>
              <a:t>Entropy flags candidates for review -- it cannot alone confirm malicious intent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330952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54864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8792B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486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80160" y="5330952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3"/>
                </a:solidFill>
              </a:rPr>
              <a:t>Demonstrated only on synthetic data -- real firmware needs broader validation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8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E7C7B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92B"/>
                </a:solidFill>
              </a:rPr>
              <a:t>RESEARCH INTEGRITY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Forensics verifies authenticity.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So should peer review.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D8E2EA"/>
                </a:solidFill>
              </a:rPr>
              <a:t>Firmware forensics asks one question at its core: is this artifact what it claims to be, and can that be verified independently? A research paper that copies structure or findings without attribution fails that exact same test -- it becomes an unverifiable artifact, in a project whose entire method is built to flag and distrust unverifiable artifacts.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</a:rPr>
              <a:t>Understand the mechanism, then describe it in your own words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6634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</a:rPr>
              <a:t>Run the code yourself -- report results you personally verified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212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</a:rPr>
              <a:t>Name every external tool, library, or dataset you use, plainly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8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platform goes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0B2847"/>
                </a:solidFill>
              </a:rPr>
              <a:t>This paper delivers a working, tested, fully offline-capable firmware forensics platform -- deterministic detection kept strictly separate from a narrowly-bounded GenAI narration layer.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123C6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2004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Live CVE Integration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CF1"/>
                </a:solidFill>
              </a:rPr>
              <a:t>Replace the curated static table with a real-time NVD API feed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297180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0E7C7B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32004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Dynamic Analysis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17720" y="397764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CF1"/>
                </a:solidFill>
              </a:rPr>
              <a:t>QEMU-based firmware emulation for behaviors static analysis alone can't reach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38160" y="297180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123C69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0" y="32004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Smarter Secret Detection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12480" y="397764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CF1"/>
                </a:solidFill>
              </a:rPr>
              <a:t>A trained classifier to catch obfuscated credentials current regex patterns miss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8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E7C7B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246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92B"/>
                </a:solidFill>
              </a:rPr>
              <a:t>GenAI-Powered IoT Vulnerability &amp; Firmware Forensics Platform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2011680" cy="0"/>
          </a:xfrm>
          <a:prstGeom prst="line">
            <a:avLst/>
          </a:prstGeom>
          <a:noFill/>
          <a:ln w="38100">
            <a:solidFill>
              <a:srgbClr val="E87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114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</a:rPr>
              <a:t>Richa  ·  AI Logic School  ·  ailogicschool.blogspot.com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</a:rPr>
              <a:t>GitHub: AiLogicSpace/-genai-iot-firmware-forensics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2026-07-10T16:28:54Z</dcterms:created>
  <dcterms:modified xsi:type="dcterms:W3CDTF">2026-07-10T16:28:54Z</dcterms:modified>
</cp:coreProperties>
</file>